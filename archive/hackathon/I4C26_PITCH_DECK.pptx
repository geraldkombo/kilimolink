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743200"/>
            <a:ext cx="274320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KilimoLink 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59669"/>
                </a:solidFill>
                <a:latin typeface="Calibri"/>
              </a:defRPr>
            </a:pPr>
            <a:r>
              <a:t>Climate-Smart Food Transport Intelligence for Nairobi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B7280"/>
                </a:solidFill>
                <a:latin typeface="Calibri"/>
              </a:defRPr>
            </a:pPr>
            <a:r>
              <a:t>Innovate4Cities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Gerald Kombo · github.com/geraldkombo/KilimoLink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64E3B"/>
                </a:solidFill>
                <a:latin typeface="Calibri"/>
              </a:defRPr>
            </a:pPr>
            <a:r>
              <a:t>The Climate Food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Nairobi's food comes from Kiambu, Machakos, Kajiado — all exposed to climate shocks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Every truck kilometer adds emissions; empty return trips waste fuel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Middlemen add cost, waste, and opacity to the food chain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Kibera, Mathare, Mukuru face the sharpest price spikes and access shocks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No real-time data exists to match supply zones to demand neighborhoods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Food waste creates methane; long routes increase transport emissions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1463040"/>
            <a:ext cx="2926080" cy="201168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194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8FAF5"/>
                </a:solidFill>
                <a:latin typeface="Calibri"/>
              </a:defRPr>
            </a:pPr>
            <a:r>
              <a:t>of food produced in Kenya is lost or wasted before reaching consumers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64E3B"/>
                </a:solidFill>
                <a:latin typeface="Calibri"/>
              </a:defRPr>
            </a:pPr>
            <a:r>
              <a:t>The Solution: Climate-Smart Food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Connects farmers directly with Nairobi buyers — matching supply zones to demand neighborhoods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Every transaction captures origin, destination, price, route, quantity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Marketplace data becomes Nairobi's live food transport intelligence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Reduces empty trips, shortens last-mile routes, cuts middlemen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Estimates CO₂e emissions per delivery and per route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828800"/>
            <a:ext cx="822960" cy="109728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92024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Farmer</a:t>
            </a:r>
            <a:br/>
            <a:r>
              <a:t>Lists Crop</a:t>
            </a:r>
          </a:p>
        </p:txBody>
      </p:sp>
      <p:sp>
        <p:nvSpPr>
          <p:cNvPr id="7" name="Rectangle 6"/>
          <p:cNvSpPr/>
          <p:nvPr/>
        </p:nvSpPr>
        <p:spPr>
          <a:xfrm>
            <a:off x="9189720" y="1828800"/>
            <a:ext cx="822960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9720" y="192024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Buyer</a:t>
            </a:r>
            <a:br/>
            <a:r>
              <a:t>Orders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49840" y="1828800"/>
            <a:ext cx="822960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0" y="192024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Route</a:t>
            </a:r>
            <a:br/>
            <a:r>
              <a:t>Optimized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09960" y="1828800"/>
            <a:ext cx="822960" cy="109728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09960" y="192024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County</a:t>
            </a:r>
            <a:br/>
            <a:r>
              <a:t>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64E3B"/>
                </a:solidFill>
                <a:latin typeface="Calibri"/>
              </a:defRPr>
            </a:pPr>
            <a:r>
              <a:t>County Climate Intelligence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9728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4E3B"/>
                </a:solidFill>
                <a:latin typeface="Calibri"/>
              </a:defRPr>
            </a:pPr>
            <a:r>
              <a:t>Transport Flow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Which corridors are active, which are at 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23160"/>
            <a:ext cx="109728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4E3B"/>
                </a:solidFill>
                <a:latin typeface="Calibri"/>
              </a:defRPr>
            </a:pPr>
            <a:r>
              <a:t>Price Anomaly Heatmap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Real-time food inflation by neighborhood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83280"/>
            <a:ext cx="109728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4E3B"/>
                </a:solidFill>
                <a:latin typeface="Calibri"/>
              </a:defRPr>
            </a:pPr>
            <a:r>
              <a:t>Supply Disruption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49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Weather + route + transaction signals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343400"/>
            <a:ext cx="109728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4E3B"/>
                </a:solidFill>
                <a:latin typeface="Calibri"/>
              </a:defRPr>
            </a:pPr>
            <a:r>
              <a:t>Food Desert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09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Transport gap analysis for informal settlements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03520"/>
            <a:ext cx="109728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4E3B"/>
                </a:solidFill>
                <a:latin typeface="Calibri"/>
              </a:defRPr>
            </a:pPr>
            <a:r>
              <a:t>CO₂e Impact Tiles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Per-route emissions savings estimates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2286000"/>
            <a:ext cx="3657600" cy="13716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468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Live demo at</a:t>
            </a:r>
            <a:br/>
            <a:r>
              <a:t>github.com/geraldkombo/KilimoLink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64E3B"/>
                </a:solidFill>
                <a:latin typeface="Calibri"/>
              </a:defRPr>
            </a:pPr>
            <a:r>
              <a:t>Three AI Engines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01  Supply Disruption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5"/>
                </a:solidFill>
                <a:latin typeface="Calibri"/>
              </a:defRPr>
            </a:pPr>
            <a:r>
              <a:t>Forecasts crop shortages by transport corridor and neighborhood using weather + transaction + route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10515600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02  Price Anomaly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5"/>
                </a:solidFill>
                <a:latin typeface="Calibri"/>
              </a:defRPr>
            </a:pPr>
            <a:r>
              <a:t>Flags unusual food inflation in informal settlements before families feel the shock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892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03  Carbon Calculator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4406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5"/>
                </a:solidFill>
                <a:latin typeface="Calibri"/>
              </a:defRPr>
            </a:pPr>
            <a:r>
              <a:t>Estimates per-order emissions savings from shorter routes, fewer middlemen, avoided waste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64E3B"/>
                </a:solidFill>
                <a:latin typeface="Calibri"/>
              </a:defRPr>
            </a:pPr>
            <a:r>
              <a:t>Why KilimoLink Is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Alternative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What They Do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371600"/>
            <a:ext cx="3200400" cy="4572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KilimoLink Difference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920240"/>
            <a:ext cx="2286000" cy="50292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827"/>
                </a:solidFill>
                <a:latin typeface="Calibri"/>
              </a:defRPr>
            </a:pPr>
            <a:r>
              <a:t>Twiga Foods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920240"/>
            <a:ext cx="3200400" cy="50292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965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827"/>
                </a:solidFill>
                <a:latin typeface="Calibri"/>
              </a:defRPr>
            </a:pPr>
            <a:r>
              <a:t>B2B distribution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920240"/>
            <a:ext cx="5029200" cy="50292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659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4E3B"/>
                </a:solidFill>
                <a:latin typeface="Calibri"/>
              </a:defRPr>
            </a:pPr>
            <a:r>
              <a:t>City climate + food transport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46888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514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827"/>
                </a:solidFill>
                <a:latin typeface="Calibri"/>
              </a:defRPr>
            </a:pPr>
            <a:r>
              <a:t>DigiFarm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468880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5146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827"/>
                </a:solidFill>
                <a:latin typeface="Calibri"/>
              </a:defRPr>
            </a:pPr>
            <a:r>
              <a:t>Farmer services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46888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514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4E3B"/>
                </a:solidFill>
                <a:latin typeface="Calibri"/>
              </a:defRPr>
            </a:pPr>
            <a:r>
              <a:t>Nairobi market + supply-demand zone matching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017520"/>
            <a:ext cx="2286000" cy="50292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06323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827"/>
                </a:solidFill>
                <a:latin typeface="Calibri"/>
              </a:defRPr>
            </a:pPr>
            <a:r>
              <a:t>M-Farm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3017520"/>
            <a:ext cx="3200400" cy="50292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306323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827"/>
                </a:solidFill>
                <a:latin typeface="Calibri"/>
              </a:defRPr>
            </a:pPr>
            <a:r>
              <a:t>Price information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017520"/>
            <a:ext cx="5029200" cy="50292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0632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4E3B"/>
                </a:solidFill>
                <a:latin typeface="Calibri"/>
              </a:defRPr>
            </a:pPr>
            <a:r>
              <a:t>Live transactions + route-based predictive alerts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56616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61187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827"/>
                </a:solidFill>
                <a:latin typeface="Calibri"/>
              </a:defRPr>
            </a:pPr>
            <a:r>
              <a:t>Generic marketplace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3566160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361187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827"/>
                </a:solidFill>
                <a:latin typeface="Calibri"/>
              </a:defRPr>
            </a:pPr>
            <a:r>
              <a:t>Connects buyers &amp; sellers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56616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61187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4E3B"/>
                </a:solidFill>
                <a:latin typeface="Calibri"/>
              </a:defRPr>
            </a:pPr>
            <a:r>
              <a:t>Marketplace-as-data-engine for climate-smart logistics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59669"/>
                </a:solidFill>
                <a:latin typeface="Calibri"/>
              </a:defRPr>
            </a:pPr>
            <a:r>
              <a:t>"Competitors move food. KilimoLink helps Nairobi understand, predict, route, and climate-proof its food system."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64E3B"/>
                </a:solidFill>
                <a:latin typeface="Calibri"/>
              </a:defRPr>
            </a:pPr>
            <a:r>
              <a:t>Informal Settlements Bonus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Focus neighborhoods: Kibera, Mathare, Mukuru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Real-time price monitoring for informal settlement food access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Seller density and fresh produce availability tracking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Shortage risk alerts before climate shocks hit vulnerable households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Transport gap analysis linking supply zones to underserved neighborhoods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1463040"/>
            <a:ext cx="2926080" cy="2286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194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8FAF5"/>
                </a:solidFill>
                <a:latin typeface="Calibri"/>
              </a:defRPr>
            </a:pPr>
            <a:r>
              <a:t>of Nairobi's population lives in informal settlements</a:t>
            </a:r>
            <a:br/>
            <a:br/>
            <a:r>
              <a:t>&lt; 30%</a:t>
            </a:r>
            <a:br/>
            <a:r>
              <a:t>have reliable access to fresh produce within 500m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64E3B"/>
                </a:solidFill>
                <a:latin typeface="Calibri"/>
              </a:defRPr>
            </a:pPr>
            <a:r>
              <a:t>Roadmap to August 31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645920" cy="7315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Week 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4630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11827"/>
                </a:solidFill>
                <a:latin typeface="Calibri"/>
              </a:defRPr>
            </a:pPr>
            <a:r>
              <a:t>Fix deployment, stabilize demo, verify evidence citations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164592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Week 3-4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468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11827"/>
                </a:solidFill>
                <a:latin typeface="Calibri"/>
              </a:defRPr>
            </a:pPr>
            <a:r>
              <a:t>Ship county dashboard: transport flow map, heatmap, alert cards, impact tiles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83280"/>
            <a:ext cx="1645920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Week 5-6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747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11827"/>
                </a:solidFill>
                <a:latin typeface="Calibri"/>
              </a:defRPr>
            </a:pPr>
            <a:r>
              <a:t>Add AI disruption, anomaly, carbon engines + route risk maps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389120"/>
            <a:ext cx="1645920" cy="7315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Week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4805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11827"/>
                </a:solidFill>
                <a:latin typeface="Calibri"/>
              </a:defRPr>
            </a:pPr>
            <a:r>
              <a:t>Pilot supply-demand zone matching with farmers and buyers around Kibera, Mathare, Mukuru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94960"/>
            <a:ext cx="164592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Week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4864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11827"/>
                </a:solidFill>
                <a:latin typeface="Calibri"/>
              </a:defRPr>
            </a:pPr>
            <a:r>
              <a:t>Test, rehearse, and package Cambridge finale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274320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59669"/>
                </a:solidFill>
                <a:latin typeface="Calibri"/>
              </a:defRPr>
            </a:pPr>
            <a:r>
              <a:t>Pilot with Nairobi City County to map, route, and climate-proof the city's food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8FAF5"/>
                </a:solidFill>
                <a:latin typeface="Calibri"/>
              </a:defRPr>
            </a:pPr>
            <a:r>
              <a:t>Access to county GIS and market datasets</a:t>
            </a:r>
          </a:p>
          <a:p>
            <a:pPr>
              <a:spcAft>
                <a:spcPts val="800"/>
              </a:spcAft>
              <a:defRPr sz="2000">
                <a:solidFill>
                  <a:srgbClr val="F8FAF5"/>
                </a:solidFill>
                <a:latin typeface="Calibri"/>
              </a:defRPr>
            </a:pPr>
            <a:r>
              <a:t>Support to onboard informal settlement buyers and peri-urban farmers</a:t>
            </a:r>
          </a:p>
          <a:p>
            <a:pPr>
              <a:spcAft>
                <a:spcPts val="800"/>
              </a:spcAft>
              <a:defRPr sz="2000">
                <a:solidFill>
                  <a:srgbClr val="F8FAF5"/>
                </a:solidFill>
                <a:latin typeface="Calibri"/>
              </a:defRPr>
            </a:pPr>
            <a:r>
              <a:t>Help scale the food transport intelligence dashboard city-wide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43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KilimoLink Direct helps Nairobi see where food is, which routes carry it, where climate risk will hit next — before families feel the shock.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